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6858000" cy="9144000"/>
  <p:embeddedFontLst>
    <p:embeddedFont>
      <p:font typeface="Average" panose="020B0604020202020204" charset="0"/>
      <p:regular r:id="rId14"/>
    </p:embeddedFont>
    <p:embeddedFont>
      <p:font typeface="Economica" panose="020B0604020202020204" charset="0"/>
      <p:regular r:id="rId15"/>
      <p:bold r:id="rId16"/>
      <p:italic r:id="rId17"/>
      <p:boldItalic r:id="rId18"/>
    </p:embeddedFont>
    <p:embeddedFont>
      <p:font typeface="Open Sans" panose="020B0606030504020204" pitchFamily="34"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2" d="100"/>
          <a:sy n="132" d="100"/>
        </p:scale>
        <p:origin x="132" y="22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3d8eee31bf7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d8eee31bf7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d8eee31bf7_0_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3d8eee31bf7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d8eee31bf7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3d8eee31bf7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3d8eee31bf7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3d8eee31bf7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d8eee31bf7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3d8eee31bf7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d8eee31bf7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d8eee31bf7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d8eee31bf7_0_1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3d8eee31bf7_0_1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d8eee31bf7_0_1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3d8eee31bf7_0_1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d8eee31bf7_0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3d8eee31bf7_0_1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d8eee31bf7_0_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3d8eee31bf7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2744013" y="756700"/>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txBody>
          <a:bodyPr/>
          <a:lstStyle/>
          <a:p>
            <a:endParaRPr lang="en-US"/>
          </a:p>
        </p:txBody>
      </p:sp>
      <p:sp>
        <p:nvSpPr>
          <p:cNvPr id="11" name="Google Shape;11;p2"/>
          <p:cNvSpPr/>
          <p:nvPr/>
        </p:nvSpPr>
        <p:spPr>
          <a:xfrm rot="10800000">
            <a:off x="5318350" y="32667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txBody>
          <a:bodyPr/>
          <a:lstStyle/>
          <a:p>
            <a:endParaRPr lang="en-US"/>
          </a:p>
        </p:txBody>
      </p:sp>
      <p:sp>
        <p:nvSpPr>
          <p:cNvPr id="12" name="Google Shape;12;p2"/>
          <p:cNvSpPr txBox="1">
            <a:spLocks noGrp="1"/>
          </p:cNvSpPr>
          <p:nvPr>
            <p:ph type="ctrTitle"/>
          </p:nvPr>
        </p:nvSpPr>
        <p:spPr>
          <a:xfrm>
            <a:off x="3044700" y="1444255"/>
            <a:ext cx="3054600" cy="15372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endParaRPr/>
          </a:p>
        </p:txBody>
      </p:sp>
      <p:sp>
        <p:nvSpPr>
          <p:cNvPr id="13" name="Google Shape;13;p2"/>
          <p:cNvSpPr txBox="1">
            <a:spLocks noGrp="1"/>
          </p:cNvSpPr>
          <p:nvPr>
            <p:ph type="subTitle" idx="1"/>
          </p:nvPr>
        </p:nvSpPr>
        <p:spPr>
          <a:xfrm>
            <a:off x="3044700" y="3116580"/>
            <a:ext cx="3054600" cy="7014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a:endParaRPr/>
          </a:p>
        </p:txBody>
      </p:sp>
      <p:sp>
        <p:nvSpPr>
          <p:cNvPr id="14" name="Google Shape;14;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p:nvPr/>
        </p:nvSpPr>
        <p:spPr>
          <a:xfrm flipH="1">
            <a:off x="7595938" y="4602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7" name="Google Shape;17;p3"/>
          <p:cNvSpPr/>
          <p:nvPr/>
        </p:nvSpPr>
        <p:spPr>
          <a:xfrm rot="10800000" flipH="1">
            <a:off x="466425" y="35583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8" name="Google Shape;18;p3"/>
          <p:cNvSpPr txBox="1">
            <a:spLocks noGrp="1"/>
          </p:cNvSpPr>
          <p:nvPr>
            <p:ph type="title"/>
          </p:nvPr>
        </p:nvSpPr>
        <p:spPr>
          <a:xfrm>
            <a:off x="773700" y="1806450"/>
            <a:ext cx="7596600" cy="15306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endParaRPr/>
          </a:p>
        </p:txBody>
      </p:sp>
      <p:sp>
        <p:nvSpPr>
          <p:cNvPr id="19" name="Google Shape;19;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4"/>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3" name="Google Shape;23;p4"/>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7" name="Google Shape;27;p5"/>
          <p:cNvSpPr txBox="1">
            <a:spLocks noGrp="1"/>
          </p:cNvSpPr>
          <p:nvPr>
            <p:ph type="body" idx="1"/>
          </p:nvPr>
        </p:nvSpPr>
        <p:spPr>
          <a:xfrm>
            <a:off x="311700" y="1225225"/>
            <a:ext cx="3999900" cy="3354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8" name="Google Shape;28;p5"/>
          <p:cNvSpPr txBox="1">
            <a:spLocks noGrp="1"/>
          </p:cNvSpPr>
          <p:nvPr>
            <p:ph type="body" idx="2"/>
          </p:nvPr>
        </p:nvSpPr>
        <p:spPr>
          <a:xfrm>
            <a:off x="4832400" y="1225225"/>
            <a:ext cx="3999900" cy="3354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9" name="Google Shape;29;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6"/>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32" name="Google Shape;32;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35" name="Google Shape;35;p7"/>
          <p:cNvSpPr txBox="1">
            <a:spLocks noGrp="1"/>
          </p:cNvSpPr>
          <p:nvPr>
            <p:ph type="body" idx="1"/>
          </p:nvPr>
        </p:nvSpPr>
        <p:spPr>
          <a:xfrm>
            <a:off x="311700" y="1399400"/>
            <a:ext cx="2808000" cy="27849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6" name="Google Shape;36;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8"/>
          <p:cNvSpPr txBox="1">
            <a:spLocks noGrp="1"/>
          </p:cNvSpPr>
          <p:nvPr>
            <p:ph type="title"/>
          </p:nvPr>
        </p:nvSpPr>
        <p:spPr>
          <a:xfrm>
            <a:off x="490250" y="450150"/>
            <a:ext cx="5878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0" name="Google Shape;4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3" name="Google Shape;43;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4" name="Google Shape;44;p9"/>
          <p:cNvSpPr txBox="1">
            <a:spLocks noGrp="1"/>
          </p:cNvSpPr>
          <p:nvPr>
            <p:ph type="title"/>
          </p:nvPr>
        </p:nvSpPr>
        <p:spPr>
          <a:xfrm>
            <a:off x="265500" y="929275"/>
            <a:ext cx="4045200" cy="17862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a:endParaRPr/>
          </a:p>
        </p:txBody>
      </p:sp>
      <p:sp>
        <p:nvSpPr>
          <p:cNvPr id="45" name="Google Shape;45;p9"/>
          <p:cNvSpPr txBox="1">
            <a:spLocks noGrp="1"/>
          </p:cNvSpPr>
          <p:nvPr>
            <p:ph type="subTitle" idx="1"/>
          </p:nvPr>
        </p:nvSpPr>
        <p:spPr>
          <a:xfrm>
            <a:off x="265500" y="2769001"/>
            <a:ext cx="4045200" cy="1574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a:endParaRPr/>
          </a:p>
        </p:txBody>
      </p:sp>
      <p:sp>
        <p:nvSpPr>
          <p:cNvPr id="46" name="Google Shape;46;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47" name="Google Shape;47;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8"/>
        <p:cNvGrpSpPr/>
        <p:nvPr/>
      </p:nvGrpSpPr>
      <p:grpSpPr>
        <a:xfrm>
          <a:off x="0" y="0"/>
          <a:ext cx="0" cy="0"/>
          <a:chOff x="0" y="0"/>
          <a:chExt cx="0" cy="0"/>
        </a:xfrm>
      </p:grpSpPr>
      <p:sp>
        <p:nvSpPr>
          <p:cNvPr id="49" name="Google Shape;49;p10"/>
          <p:cNvSpPr txBox="1">
            <a:spLocks noGrp="1"/>
          </p:cNvSpPr>
          <p:nvPr>
            <p:ph type="body" idx="1"/>
          </p:nvPr>
        </p:nvSpPr>
        <p:spPr>
          <a:xfrm>
            <a:off x="319500" y="42189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a:endParaRPr/>
          </a:p>
        </p:txBody>
      </p:sp>
      <p:sp>
        <p:nvSpPr>
          <p:cNvPr id="50" name="Google Shape;50;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11"/>
          <p:cNvSpPr txBox="1">
            <a:spLocks noGrp="1"/>
          </p:cNvSpPr>
          <p:nvPr>
            <p:ph type="title" hasCustomPrompt="1"/>
          </p:nvPr>
        </p:nvSpPr>
        <p:spPr>
          <a:xfrm>
            <a:off x="311700" y="957125"/>
            <a:ext cx="8520600" cy="21288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a:spLocks noGrp="1"/>
          </p:cNvSpPr>
          <p:nvPr>
            <p:ph type="body" idx="1"/>
          </p:nvPr>
        </p:nvSpPr>
        <p:spPr>
          <a:xfrm>
            <a:off x="311700" y="3162000"/>
            <a:ext cx="85206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5" name="Google Shape;5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lux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rm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a:endParaRPr/>
          </a:p>
        </p:txBody>
      </p:sp>
      <p:sp>
        <p:nvSpPr>
          <p:cNvPr id="7" name="Google Shape;7;p1"/>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marL="914400" lvl="1"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marL="1371600" lvl="2"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marL="1828800" lvl="3"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marL="2286000" lvl="4"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marL="2743200" lvl="5"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marL="3200400" lvl="6"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marL="3657600" lvl="7"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marL="4114800" lvl="8"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hyperlink" Target="https://taxpolicycenter.org/sites/default/files/legacy/taxfacts/content/pdf/historical_eitc_parameters.pdf" TargetMode="External"/><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hyperlink" Target="https://taxsim.nber.org/state-eitc.html" TargetMode="External"/><Relationship Id="rId4" Type="http://schemas.openxmlformats.org/officeDocument/2006/relationships/hyperlink" Target="https://psidonline.isr.umich.edu/default.asp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3"/>
          <p:cNvSpPr txBox="1">
            <a:spLocks noGrp="1"/>
          </p:cNvSpPr>
          <p:nvPr>
            <p:ph type="ctrTitle"/>
          </p:nvPr>
        </p:nvSpPr>
        <p:spPr>
          <a:xfrm>
            <a:off x="3044700" y="1444255"/>
            <a:ext cx="3054600" cy="15372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t>Earned Income Tax Credit</a:t>
            </a:r>
            <a:endParaRPr/>
          </a:p>
        </p:txBody>
      </p:sp>
      <p:sp>
        <p:nvSpPr>
          <p:cNvPr id="63" name="Google Shape;63;p13"/>
          <p:cNvSpPr txBox="1">
            <a:spLocks noGrp="1"/>
          </p:cNvSpPr>
          <p:nvPr>
            <p:ph type="subTitle" idx="1"/>
          </p:nvPr>
        </p:nvSpPr>
        <p:spPr>
          <a:xfrm>
            <a:off x="3044700" y="3116580"/>
            <a:ext cx="3054600" cy="7014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t>How Education Rates are Impacted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4"/>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My Question and Why Its Important</a:t>
            </a:r>
            <a:endParaRPr/>
          </a:p>
        </p:txBody>
      </p:sp>
      <p:sp>
        <p:nvSpPr>
          <p:cNvPr id="69" name="Google Shape;69;p14"/>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rmAutofit fontScale="92500"/>
          </a:bodyPr>
          <a:lstStyle/>
          <a:p>
            <a:pPr marL="457200" lvl="0" indent="-342900" algn="l" rtl="0">
              <a:spcBef>
                <a:spcPts val="0"/>
              </a:spcBef>
              <a:spcAft>
                <a:spcPts val="0"/>
              </a:spcAft>
              <a:buClr>
                <a:schemeClr val="dk1"/>
              </a:buClr>
              <a:buSzPts val="1800"/>
              <a:buFont typeface="Average"/>
              <a:buChar char="●"/>
            </a:pPr>
            <a:r>
              <a:rPr lang="en">
                <a:latin typeface="Average"/>
                <a:ea typeface="Average"/>
                <a:cs typeface="Average"/>
                <a:sym typeface="Average"/>
              </a:rPr>
              <a:t>How does tax credits such as the EITC received between the ages of 10 and 16 affect high school and college education attainment?</a:t>
            </a:r>
            <a:endParaRPr>
              <a:latin typeface="Average"/>
              <a:ea typeface="Average"/>
              <a:cs typeface="Average"/>
              <a:sym typeface="Average"/>
            </a:endParaRPr>
          </a:p>
          <a:p>
            <a:pPr marL="457200" lvl="0" indent="0" algn="l" rtl="0">
              <a:spcBef>
                <a:spcPts val="1200"/>
              </a:spcBef>
              <a:spcAft>
                <a:spcPts val="0"/>
              </a:spcAft>
              <a:buClr>
                <a:schemeClr val="dk1"/>
              </a:buClr>
              <a:buSzPts val="1100"/>
              <a:buFont typeface="Arial"/>
              <a:buNone/>
            </a:pPr>
            <a:endParaRPr>
              <a:latin typeface="Average"/>
              <a:ea typeface="Average"/>
              <a:cs typeface="Average"/>
              <a:sym typeface="Average"/>
            </a:endParaRPr>
          </a:p>
          <a:p>
            <a:pPr marL="457200" lvl="0" indent="-342900" algn="l" rtl="0">
              <a:spcBef>
                <a:spcPts val="1200"/>
              </a:spcBef>
              <a:spcAft>
                <a:spcPts val="0"/>
              </a:spcAft>
              <a:buClr>
                <a:schemeClr val="dk1"/>
              </a:buClr>
              <a:buSzPts val="1800"/>
              <a:buFont typeface="Average"/>
              <a:buChar char="●"/>
            </a:pPr>
            <a:r>
              <a:rPr lang="en">
                <a:latin typeface="Average"/>
                <a:ea typeface="Average"/>
                <a:cs typeface="Average"/>
                <a:sym typeface="Average"/>
              </a:rPr>
              <a:t>If there exists tax policy that can help lower income children become more educated this results in a multitude of good outcomes both on an individual level and for the broader population</a:t>
            </a:r>
            <a:endParaRPr>
              <a:latin typeface="Average"/>
              <a:ea typeface="Average"/>
              <a:cs typeface="Average"/>
              <a:sym typeface="Average"/>
            </a:endParaRPr>
          </a:p>
          <a:p>
            <a:pPr marL="457200" lvl="0" indent="0" algn="l" rtl="0">
              <a:spcBef>
                <a:spcPts val="1200"/>
              </a:spcBef>
              <a:spcAft>
                <a:spcPts val="0"/>
              </a:spcAft>
              <a:buClr>
                <a:schemeClr val="dk1"/>
              </a:buClr>
              <a:buSzPts val="1100"/>
              <a:buFont typeface="Arial"/>
              <a:buNone/>
            </a:pPr>
            <a:endParaRPr>
              <a:latin typeface="Average"/>
              <a:ea typeface="Average"/>
              <a:cs typeface="Average"/>
              <a:sym typeface="Average"/>
            </a:endParaRPr>
          </a:p>
          <a:p>
            <a:pPr marL="457200" lvl="0" indent="-342900" algn="l" rtl="0">
              <a:spcBef>
                <a:spcPts val="1200"/>
              </a:spcBef>
              <a:spcAft>
                <a:spcPts val="0"/>
              </a:spcAft>
              <a:buClr>
                <a:schemeClr val="dk1"/>
              </a:buClr>
              <a:buSzPts val="1800"/>
              <a:buFont typeface="Average"/>
              <a:buChar char="●"/>
            </a:pPr>
            <a:r>
              <a:rPr lang="en">
                <a:latin typeface="Average"/>
                <a:ea typeface="Average"/>
                <a:cs typeface="Average"/>
                <a:sym typeface="Average"/>
              </a:rPr>
              <a:t>A more educated population has lower crime rates, higher income and thus taxes paid, is happier and has better health outcomes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Economic Understanding</a:t>
            </a:r>
            <a:endParaRPr/>
          </a:p>
        </p:txBody>
      </p:sp>
      <p:sp>
        <p:nvSpPr>
          <p:cNvPr id="75" name="Google Shape;75;p15"/>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p>
            <a:pPr marL="457200" lvl="0" indent="-314960" algn="l" rtl="0">
              <a:lnSpc>
                <a:spcPct val="105000"/>
              </a:lnSpc>
              <a:spcBef>
                <a:spcPts val="0"/>
              </a:spcBef>
              <a:spcAft>
                <a:spcPts val="0"/>
              </a:spcAft>
              <a:buClr>
                <a:schemeClr val="dk1"/>
              </a:buClr>
              <a:buSzPts val="1360"/>
              <a:buFont typeface="Average"/>
              <a:buChar char="●"/>
            </a:pPr>
            <a:r>
              <a:rPr lang="en" sz="1360">
                <a:latin typeface="Average"/>
                <a:ea typeface="Average"/>
                <a:cs typeface="Average"/>
                <a:sym typeface="Average"/>
              </a:rPr>
              <a:t>An increase in income should allow for either more disposable income if basic needs are met, the ability to decrease labor input, or a heightened ability to meet basic needs</a:t>
            </a:r>
            <a:endParaRPr sz="1360">
              <a:latin typeface="Average"/>
              <a:ea typeface="Average"/>
              <a:cs typeface="Average"/>
              <a:sym typeface="Average"/>
            </a:endParaRPr>
          </a:p>
          <a:p>
            <a:pPr marL="457200" lvl="0" indent="0" algn="l" rtl="0">
              <a:lnSpc>
                <a:spcPct val="105000"/>
              </a:lnSpc>
              <a:spcBef>
                <a:spcPts val="1200"/>
              </a:spcBef>
              <a:spcAft>
                <a:spcPts val="0"/>
              </a:spcAft>
              <a:buSzPts val="770"/>
              <a:buNone/>
            </a:pPr>
            <a:endParaRPr sz="905">
              <a:latin typeface="Average"/>
              <a:ea typeface="Average"/>
              <a:cs typeface="Average"/>
              <a:sym typeface="Average"/>
            </a:endParaRPr>
          </a:p>
          <a:p>
            <a:pPr marL="457200" lvl="0" indent="-314960" algn="l" rtl="0">
              <a:lnSpc>
                <a:spcPct val="105000"/>
              </a:lnSpc>
              <a:spcBef>
                <a:spcPts val="1200"/>
              </a:spcBef>
              <a:spcAft>
                <a:spcPts val="0"/>
              </a:spcAft>
              <a:buClr>
                <a:schemeClr val="dk1"/>
              </a:buClr>
              <a:buSzPts val="1360"/>
              <a:buFont typeface="Average"/>
              <a:buChar char="●"/>
            </a:pPr>
            <a:r>
              <a:rPr lang="en" sz="1360">
                <a:latin typeface="Average"/>
                <a:ea typeface="Average"/>
                <a:cs typeface="Average"/>
                <a:sym typeface="Average"/>
              </a:rPr>
              <a:t>If this increase in income allows for more disposable income then this income could be routed to increased quality of food, or supplies or services that directly help with schooling like notebooks, internet access or tutoring</a:t>
            </a:r>
            <a:endParaRPr sz="1360">
              <a:latin typeface="Average"/>
              <a:ea typeface="Average"/>
              <a:cs typeface="Average"/>
              <a:sym typeface="Average"/>
            </a:endParaRPr>
          </a:p>
          <a:p>
            <a:pPr marL="457200" lvl="0" indent="0" algn="l" rtl="0">
              <a:lnSpc>
                <a:spcPct val="105000"/>
              </a:lnSpc>
              <a:spcBef>
                <a:spcPts val="1200"/>
              </a:spcBef>
              <a:spcAft>
                <a:spcPts val="0"/>
              </a:spcAft>
              <a:buSzPts val="770"/>
              <a:buNone/>
            </a:pPr>
            <a:endParaRPr sz="905">
              <a:latin typeface="Average"/>
              <a:ea typeface="Average"/>
              <a:cs typeface="Average"/>
              <a:sym typeface="Average"/>
            </a:endParaRPr>
          </a:p>
          <a:p>
            <a:pPr marL="457200" lvl="0" indent="-314960" algn="l" rtl="0">
              <a:lnSpc>
                <a:spcPct val="105000"/>
              </a:lnSpc>
              <a:spcBef>
                <a:spcPts val="1200"/>
              </a:spcBef>
              <a:spcAft>
                <a:spcPts val="0"/>
              </a:spcAft>
              <a:buClr>
                <a:schemeClr val="dk1"/>
              </a:buClr>
              <a:buSzPts val="1360"/>
              <a:buFont typeface="Average"/>
              <a:buChar char="●"/>
            </a:pPr>
            <a:r>
              <a:rPr lang="en" sz="1360">
                <a:latin typeface="Average"/>
                <a:ea typeface="Average"/>
                <a:cs typeface="Average"/>
                <a:sym typeface="Average"/>
              </a:rPr>
              <a:t>If parents are able to decrease labor input they could reallocate time to helping their children with academic assistance such as helping with homework, or just creating a more structured routine</a:t>
            </a:r>
            <a:endParaRPr sz="1360">
              <a:latin typeface="Average"/>
              <a:ea typeface="Average"/>
              <a:cs typeface="Average"/>
              <a:sym typeface="Average"/>
            </a:endParaRPr>
          </a:p>
          <a:p>
            <a:pPr marL="457200" lvl="0" indent="0" algn="l" rtl="0">
              <a:lnSpc>
                <a:spcPct val="105000"/>
              </a:lnSpc>
              <a:spcBef>
                <a:spcPts val="1200"/>
              </a:spcBef>
              <a:spcAft>
                <a:spcPts val="0"/>
              </a:spcAft>
              <a:buSzPts val="770"/>
              <a:buNone/>
            </a:pPr>
            <a:endParaRPr sz="905">
              <a:latin typeface="Average"/>
              <a:ea typeface="Average"/>
              <a:cs typeface="Average"/>
              <a:sym typeface="Average"/>
            </a:endParaRPr>
          </a:p>
          <a:p>
            <a:pPr marL="457200" lvl="0" indent="-314960" algn="l" rtl="0">
              <a:lnSpc>
                <a:spcPct val="105000"/>
              </a:lnSpc>
              <a:spcBef>
                <a:spcPts val="1200"/>
              </a:spcBef>
              <a:spcAft>
                <a:spcPts val="0"/>
              </a:spcAft>
              <a:buClr>
                <a:schemeClr val="dk1"/>
              </a:buClr>
              <a:buSzPts val="1360"/>
              <a:buFont typeface="Average"/>
              <a:buChar char="●"/>
            </a:pPr>
            <a:r>
              <a:rPr lang="en" sz="1360">
                <a:latin typeface="Average"/>
                <a:ea typeface="Average"/>
                <a:cs typeface="Average"/>
                <a:sym typeface="Average"/>
              </a:rPr>
              <a:t>If they are now able to meet basic needs this decreases stress in the household, provides stability, helps with food insecurity, etc. When basic needs aren’t met we can come up with lots of things that negatively impact a child’s ability to learn </a:t>
            </a:r>
            <a:endParaRPr sz="1360">
              <a:latin typeface="Average"/>
              <a:ea typeface="Average"/>
              <a:cs typeface="Average"/>
              <a:sym typeface="Average"/>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6"/>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Variables</a:t>
            </a:r>
            <a:endParaRPr/>
          </a:p>
        </p:txBody>
      </p:sp>
      <p:sp>
        <p:nvSpPr>
          <p:cNvPr id="81" name="Google Shape;81;p16"/>
          <p:cNvSpPr txBox="1">
            <a:spLocks noGrp="1"/>
          </p:cNvSpPr>
          <p:nvPr>
            <p:ph type="body" idx="1"/>
          </p:nvPr>
        </p:nvSpPr>
        <p:spPr>
          <a:xfrm>
            <a:off x="311700" y="1152475"/>
            <a:ext cx="5034300" cy="3870600"/>
          </a:xfrm>
          <a:prstGeom prst="rect">
            <a:avLst/>
          </a:prstGeom>
        </p:spPr>
        <p:txBody>
          <a:bodyPr spcFirstLastPara="1" wrap="square" lIns="91425" tIns="91425" rIns="91425" bIns="91425" anchor="t" anchorCtr="0">
            <a:normAutofit fontScale="55000" lnSpcReduction="20000"/>
          </a:bodyPr>
          <a:lstStyle/>
          <a:p>
            <a:pPr marL="0" lvl="0" indent="0" algn="l" rtl="0">
              <a:spcBef>
                <a:spcPts val="0"/>
              </a:spcBef>
              <a:spcAft>
                <a:spcPts val="0"/>
              </a:spcAft>
              <a:buNone/>
            </a:pPr>
            <a:r>
              <a:rPr lang="en" sz="1900" b="1"/>
              <a:t>Independent Variables: 						</a:t>
            </a:r>
            <a:endParaRPr sz="1900" b="1"/>
          </a:p>
          <a:p>
            <a:pPr marL="0" lvl="0" indent="0" algn="l" rtl="0">
              <a:spcBef>
                <a:spcPts val="1200"/>
              </a:spcBef>
              <a:spcAft>
                <a:spcPts val="0"/>
              </a:spcAft>
              <a:buNone/>
            </a:pPr>
            <a:r>
              <a:rPr lang="en" sz="1747"/>
              <a:t>CURRENT STATE, 						</a:t>
            </a:r>
            <a:endParaRPr sz="1747"/>
          </a:p>
          <a:p>
            <a:pPr marL="0" lvl="0" indent="0" algn="l" rtl="0">
              <a:spcBef>
                <a:spcPts val="1200"/>
              </a:spcBef>
              <a:spcAft>
                <a:spcPts val="0"/>
              </a:spcAft>
              <a:buNone/>
            </a:pPr>
            <a:r>
              <a:rPr lang="en" sz="1747"/>
              <a:t>MOTHERS EDUCATION,</a:t>
            </a:r>
            <a:endParaRPr sz="1747"/>
          </a:p>
          <a:p>
            <a:pPr marL="0" lvl="0" indent="0" algn="l" rtl="0">
              <a:spcBef>
                <a:spcPts val="1200"/>
              </a:spcBef>
              <a:spcAft>
                <a:spcPts val="0"/>
              </a:spcAft>
              <a:buNone/>
            </a:pPr>
            <a:r>
              <a:rPr lang="en" sz="1747"/>
              <a:t>FATHERS EDUCATION, </a:t>
            </a:r>
            <a:endParaRPr sz="1747"/>
          </a:p>
          <a:p>
            <a:pPr marL="0" lvl="0" indent="0" algn="l" rtl="0">
              <a:spcBef>
                <a:spcPts val="1200"/>
              </a:spcBef>
              <a:spcAft>
                <a:spcPts val="0"/>
              </a:spcAft>
              <a:buNone/>
            </a:pPr>
            <a:r>
              <a:rPr lang="en" sz="1747"/>
              <a:t>TOTAL FAMILY INCOME, </a:t>
            </a:r>
            <a:endParaRPr sz="1747"/>
          </a:p>
          <a:p>
            <a:pPr marL="0" lvl="0" indent="0" algn="l" rtl="0">
              <a:spcBef>
                <a:spcPts val="1200"/>
              </a:spcBef>
              <a:spcAft>
                <a:spcPts val="0"/>
              </a:spcAft>
              <a:buNone/>
            </a:pPr>
            <a:r>
              <a:rPr lang="en" sz="1747"/>
              <a:t>RELATIONSHIP TO HEAD (OF HOUSEHOLD), </a:t>
            </a:r>
            <a:endParaRPr sz="1747"/>
          </a:p>
          <a:p>
            <a:pPr marL="0" lvl="0" indent="0" algn="l" rtl="0">
              <a:spcBef>
                <a:spcPts val="1200"/>
              </a:spcBef>
              <a:spcAft>
                <a:spcPts val="0"/>
              </a:spcAft>
              <a:buNone/>
            </a:pPr>
            <a:r>
              <a:rPr lang="en" sz="1747"/>
              <a:t>AGE OF INDIVIDUAL,</a:t>
            </a:r>
            <a:endParaRPr sz="1747"/>
          </a:p>
          <a:p>
            <a:pPr marL="0" lvl="0" indent="0" algn="l" rtl="0">
              <a:spcBef>
                <a:spcPts val="1200"/>
              </a:spcBef>
              <a:spcAft>
                <a:spcPts val="0"/>
              </a:spcAft>
              <a:buNone/>
            </a:pPr>
            <a:r>
              <a:rPr lang="en" sz="1747"/>
              <a:t>SEX,</a:t>
            </a:r>
            <a:endParaRPr sz="1747"/>
          </a:p>
          <a:p>
            <a:pPr marL="0" lvl="0" indent="0" algn="l" rtl="0">
              <a:spcBef>
                <a:spcPts val="1200"/>
              </a:spcBef>
              <a:spcAft>
                <a:spcPts val="0"/>
              </a:spcAft>
              <a:buNone/>
            </a:pPr>
            <a:r>
              <a:rPr lang="en" sz="1747"/>
              <a:t>RACE,</a:t>
            </a:r>
            <a:endParaRPr sz="1747"/>
          </a:p>
          <a:p>
            <a:pPr marL="0" lvl="0" indent="0" algn="l" rtl="0">
              <a:spcBef>
                <a:spcPts val="1200"/>
              </a:spcBef>
              <a:spcAft>
                <a:spcPts val="0"/>
              </a:spcAft>
              <a:buNone/>
            </a:pPr>
            <a:r>
              <a:rPr lang="en" sz="1747"/>
              <a:t>EITC EXPOSURE (Calculated as FEDERAL EITC + STATE EITC)</a:t>
            </a:r>
            <a:r>
              <a:rPr lang="en" sz="1500"/>
              <a:t> </a:t>
            </a:r>
            <a:endParaRPr sz="1200"/>
          </a:p>
          <a:p>
            <a:pPr marL="0" lvl="0" indent="0" algn="l" rtl="0">
              <a:spcBef>
                <a:spcPts val="1200"/>
              </a:spcBef>
              <a:spcAft>
                <a:spcPts val="1200"/>
              </a:spcAft>
              <a:buNone/>
            </a:pPr>
            <a:r>
              <a:rPr lang="en" sz="1308"/>
              <a:t>Where STATE EITC is a percentage of FEDERAL EITC by state</a:t>
            </a:r>
            <a:r>
              <a:rPr lang="en" sz="1092"/>
              <a:t> </a:t>
            </a:r>
            <a:endParaRPr sz="1292"/>
          </a:p>
        </p:txBody>
      </p:sp>
      <p:sp>
        <p:nvSpPr>
          <p:cNvPr id="82" name="Google Shape;82;p16"/>
          <p:cNvSpPr txBox="1"/>
          <p:nvPr/>
        </p:nvSpPr>
        <p:spPr>
          <a:xfrm>
            <a:off x="5315950" y="1152475"/>
            <a:ext cx="3426600" cy="3870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900" b="1">
                <a:solidFill>
                  <a:schemeClr val="dk1"/>
                </a:solidFill>
                <a:latin typeface="Average"/>
                <a:ea typeface="Average"/>
                <a:cs typeface="Average"/>
                <a:sym typeface="Average"/>
              </a:rPr>
              <a:t>Dependent Variable: </a:t>
            </a:r>
            <a:endParaRPr sz="1900" b="1">
              <a:solidFill>
                <a:schemeClr val="dk1"/>
              </a:solidFill>
              <a:latin typeface="Average"/>
              <a:ea typeface="Average"/>
              <a:cs typeface="Average"/>
              <a:sym typeface="Average"/>
            </a:endParaRPr>
          </a:p>
          <a:p>
            <a:pPr marL="0" lvl="0" indent="0" algn="l" rtl="0">
              <a:lnSpc>
                <a:spcPct val="115000"/>
              </a:lnSpc>
              <a:spcBef>
                <a:spcPts val="1200"/>
              </a:spcBef>
              <a:spcAft>
                <a:spcPts val="1200"/>
              </a:spcAft>
              <a:buNone/>
            </a:pPr>
            <a:r>
              <a:rPr lang="en" sz="1350">
                <a:solidFill>
                  <a:schemeClr val="dk1"/>
                </a:solidFill>
                <a:latin typeface="Average"/>
                <a:ea typeface="Average"/>
                <a:cs typeface="Average"/>
                <a:sym typeface="Average"/>
              </a:rPr>
              <a:t>EDUCATION ATTAINED</a:t>
            </a:r>
            <a:endParaRPr sz="1350">
              <a:solidFill>
                <a:schemeClr val="dk1"/>
              </a:solidFill>
              <a:latin typeface="Average"/>
              <a:ea typeface="Average"/>
              <a:cs typeface="Average"/>
              <a:sym typeface="Average"/>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7"/>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Largest Data Cleaning Challenge</a:t>
            </a:r>
            <a:endParaRPr/>
          </a:p>
        </p:txBody>
      </p:sp>
      <p:sp>
        <p:nvSpPr>
          <p:cNvPr id="88" name="Google Shape;88;p17"/>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rmAutofit fontScale="92500"/>
          </a:bodyPr>
          <a:lstStyle/>
          <a:p>
            <a:pPr marL="0" lvl="0" indent="0" algn="l" rtl="0">
              <a:spcBef>
                <a:spcPts val="0"/>
              </a:spcBef>
              <a:spcAft>
                <a:spcPts val="0"/>
              </a:spcAft>
              <a:buNone/>
            </a:pPr>
            <a:r>
              <a:rPr lang="en"/>
              <a:t>Challenge:</a:t>
            </a:r>
            <a:endParaRPr/>
          </a:p>
          <a:p>
            <a:pPr marL="457200" lvl="0" indent="-342900" algn="l" rtl="0">
              <a:spcBef>
                <a:spcPts val="1200"/>
              </a:spcBef>
              <a:spcAft>
                <a:spcPts val="0"/>
              </a:spcAft>
              <a:buSzPts val="1800"/>
              <a:buChar char="●"/>
            </a:pPr>
            <a:r>
              <a:rPr lang="en"/>
              <a:t>The PSID uses variable names that without access to the codebook are incomprehensible (Ex. ER3002) and the provided labels are inconsistent. I wanted to be able to match the original variable to a consistent label without having to manually change the variable name within my code. </a:t>
            </a:r>
            <a:endParaRPr/>
          </a:p>
          <a:p>
            <a:pPr marL="0" lvl="0" indent="0" algn="l" rtl="0">
              <a:spcBef>
                <a:spcPts val="1200"/>
              </a:spcBef>
              <a:spcAft>
                <a:spcPts val="0"/>
              </a:spcAft>
              <a:buNone/>
            </a:pPr>
            <a:r>
              <a:rPr lang="en"/>
              <a:t>Solution:</a:t>
            </a:r>
            <a:endParaRPr/>
          </a:p>
          <a:p>
            <a:pPr marL="457200" lvl="0" indent="-342900" algn="l" rtl="0">
              <a:spcBef>
                <a:spcPts val="1200"/>
              </a:spcBef>
              <a:spcAft>
                <a:spcPts val="0"/>
              </a:spcAft>
              <a:buSzPts val="1800"/>
              <a:buChar char="●"/>
            </a:pPr>
            <a:r>
              <a:rPr lang="en"/>
              <a:t>The first step I used to accomplish this was adjusting the label text file to have consistent labels and years within it. Then using macro variables and SQL I created a  rename list that automatically changed the imported column namess in the dataset to match the one in the codebook.</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8"/>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Results of Analysis</a:t>
            </a:r>
            <a:endParaRPr/>
          </a:p>
        </p:txBody>
      </p:sp>
      <p:sp>
        <p:nvSpPr>
          <p:cNvPr id="94" name="Google Shape;94;p18"/>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1200"/>
              </a:spcAft>
              <a:buNone/>
            </a:pPr>
            <a:r>
              <a:rPr lang="en"/>
              <a:t>Each of my regressions were able to explain about 10% of the variation in education rates. For a multifaceted problem like “How do we encourage education success” this is a satisfactory result yet still a serious limitation. Due to this limitation my regressions found that the Earned Income Tax Credit had a negative impact on education success at all levels (High School completion, college attendance and Bachelors completion). It is important to mention that based on my correlation matrix, which found that the EITC was positively correlated with education success, I can conclude this result is most likely due to missing variable bias. This means that if the important missing variables are found and controlled for then this limitation could be overcome.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9"/>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Visual For High School Completion</a:t>
            </a:r>
            <a:endParaRPr/>
          </a:p>
        </p:txBody>
      </p:sp>
      <p:sp>
        <p:nvSpPr>
          <p:cNvPr id="100" name="Google Shape;100;p19"/>
          <p:cNvSpPr txBox="1">
            <a:spLocks noGrp="1"/>
          </p:cNvSpPr>
          <p:nvPr>
            <p:ph type="body" idx="1"/>
          </p:nvPr>
        </p:nvSpPr>
        <p:spPr>
          <a:xfrm>
            <a:off x="311700" y="1225225"/>
            <a:ext cx="3782100" cy="3632400"/>
          </a:xfrm>
          <a:prstGeom prst="rect">
            <a:avLst/>
          </a:prstGeom>
        </p:spPr>
        <p:txBody>
          <a:bodyPr spcFirstLastPara="1" wrap="square" lIns="91425" tIns="91425" rIns="91425" bIns="91425" anchor="t" anchorCtr="0">
            <a:normAutofit fontScale="25000" lnSpcReduction="20000"/>
          </a:bodyPr>
          <a:lstStyle/>
          <a:p>
            <a:pPr marL="457200" lvl="0" indent="-336550" algn="l" rtl="0">
              <a:spcBef>
                <a:spcPts val="0"/>
              </a:spcBef>
              <a:spcAft>
                <a:spcPts val="0"/>
              </a:spcAft>
              <a:buSzPct val="100000"/>
              <a:buChar char="●"/>
            </a:pPr>
            <a:r>
              <a:rPr lang="en" sz="6800" dirty="0"/>
              <a:t>The group that could not receive EITC is operating as expected. There’s a general trend where around 85% of people complete high school regardless of EITC. </a:t>
            </a:r>
            <a:endParaRPr sz="6800" dirty="0"/>
          </a:p>
          <a:p>
            <a:pPr marL="457200" lvl="0" indent="-336550" algn="l" rtl="0">
              <a:spcBef>
                <a:spcPts val="0"/>
              </a:spcBef>
              <a:spcAft>
                <a:spcPts val="0"/>
              </a:spcAft>
              <a:buSzPct val="100000"/>
              <a:buChar char="●"/>
            </a:pPr>
            <a:r>
              <a:rPr lang="en" sz="6800" dirty="0"/>
              <a:t>The group that could receive EITC is not operating as expected. </a:t>
            </a:r>
            <a:r>
              <a:rPr lang="en-US" sz="6800" dirty="0"/>
              <a:t>It seems to stay rather constant around a 80% High school completion rate except at the $1750 bin.</a:t>
            </a:r>
            <a:endParaRPr sz="6800" dirty="0"/>
          </a:p>
          <a:p>
            <a:pPr marL="0" lvl="0" indent="0" algn="l" rtl="0">
              <a:spcBef>
                <a:spcPts val="1200"/>
              </a:spcBef>
              <a:spcAft>
                <a:spcPts val="0"/>
              </a:spcAft>
              <a:buNone/>
            </a:pPr>
            <a:endParaRPr dirty="0"/>
          </a:p>
          <a:p>
            <a:pPr marL="0" lvl="0" indent="0" algn="l" rtl="0">
              <a:spcBef>
                <a:spcPts val="1200"/>
              </a:spcBef>
              <a:spcAft>
                <a:spcPts val="1200"/>
              </a:spcAft>
              <a:buNone/>
            </a:pPr>
            <a:endParaRPr dirty="0"/>
          </a:p>
        </p:txBody>
      </p:sp>
      <p:pic>
        <p:nvPicPr>
          <p:cNvPr id="1026" name="Picture 2">
            <a:extLst>
              <a:ext uri="{FF2B5EF4-FFF2-40B4-BE49-F238E27FC236}">
                <a16:creationId xmlns:a16="http://schemas.microsoft.com/office/drawing/2014/main" id="{357D1370-AC1C-9EDE-54BC-958ED839E9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10891" y="1155475"/>
            <a:ext cx="5029200" cy="37719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0"/>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Clr>
                <a:schemeClr val="dk1"/>
              </a:buClr>
              <a:buSzPts val="1100"/>
              <a:buFont typeface="Arial"/>
              <a:buNone/>
            </a:pPr>
            <a:r>
              <a:rPr lang="en"/>
              <a:t>Visual For College Attendance</a:t>
            </a:r>
            <a:endParaRPr/>
          </a:p>
        </p:txBody>
      </p:sp>
      <p:sp>
        <p:nvSpPr>
          <p:cNvPr id="107" name="Google Shape;107;p20"/>
          <p:cNvSpPr txBox="1">
            <a:spLocks noGrp="1"/>
          </p:cNvSpPr>
          <p:nvPr>
            <p:ph type="body" idx="1"/>
          </p:nvPr>
        </p:nvSpPr>
        <p:spPr>
          <a:xfrm>
            <a:off x="311700" y="1225225"/>
            <a:ext cx="3669900" cy="3640800"/>
          </a:xfrm>
          <a:prstGeom prst="rect">
            <a:avLst/>
          </a:prstGeom>
        </p:spPr>
        <p:txBody>
          <a:bodyPr spcFirstLastPara="1" wrap="square" lIns="91425" tIns="91425" rIns="91425" bIns="91425" anchor="t" anchorCtr="0">
            <a:normAutofit fontScale="25000" lnSpcReduction="20000"/>
          </a:bodyPr>
          <a:lstStyle/>
          <a:p>
            <a:pPr marL="457200" lvl="0" indent="-336550" algn="l" rtl="0">
              <a:spcBef>
                <a:spcPts val="0"/>
              </a:spcBef>
              <a:spcAft>
                <a:spcPts val="0"/>
              </a:spcAft>
              <a:buSzPct val="100000"/>
              <a:buChar char="●"/>
            </a:pPr>
            <a:r>
              <a:rPr lang="en" sz="6800" dirty="0"/>
              <a:t>The group that could not receive EITC seems to have a slight positive slope indicating that EITC has a positive impact on college attendance. This is unexpected since they could not receive it.</a:t>
            </a:r>
            <a:endParaRPr sz="6800" dirty="0"/>
          </a:p>
          <a:p>
            <a:pPr marL="457200" lvl="0" indent="-336550" algn="l" rtl="0">
              <a:spcBef>
                <a:spcPts val="0"/>
              </a:spcBef>
              <a:spcAft>
                <a:spcPts val="0"/>
              </a:spcAft>
              <a:buSzPct val="100000"/>
              <a:buChar char="●"/>
            </a:pPr>
            <a:r>
              <a:rPr lang="en" sz="6800" dirty="0"/>
              <a:t>The group that could receive EITC had a either flat or somew</a:t>
            </a:r>
            <a:r>
              <a:rPr lang="en-US" sz="6800" dirty="0"/>
              <a:t>ha</a:t>
            </a:r>
            <a:r>
              <a:rPr lang="en" sz="6800" dirty="0"/>
              <a:t>t downward trending slope</a:t>
            </a:r>
            <a:endParaRPr dirty="0"/>
          </a:p>
        </p:txBody>
      </p:sp>
      <p:pic>
        <p:nvPicPr>
          <p:cNvPr id="3074" name="Picture 2">
            <a:extLst>
              <a:ext uri="{FF2B5EF4-FFF2-40B4-BE49-F238E27FC236}">
                <a16:creationId xmlns:a16="http://schemas.microsoft.com/office/drawing/2014/main" id="{B736802A-0359-9F61-72EF-3BEB4E6345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1094125"/>
            <a:ext cx="5029200" cy="37719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1"/>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Clr>
                <a:schemeClr val="dk1"/>
              </a:buClr>
              <a:buSzPts val="1100"/>
              <a:buFont typeface="Arial"/>
              <a:buNone/>
            </a:pPr>
            <a:r>
              <a:rPr lang="en"/>
              <a:t>Visual For Bachelors Completion</a:t>
            </a:r>
            <a:endParaRPr/>
          </a:p>
        </p:txBody>
      </p:sp>
      <p:sp>
        <p:nvSpPr>
          <p:cNvPr id="114" name="Google Shape;114;p21"/>
          <p:cNvSpPr txBox="1">
            <a:spLocks noGrp="1"/>
          </p:cNvSpPr>
          <p:nvPr>
            <p:ph type="body" idx="1"/>
          </p:nvPr>
        </p:nvSpPr>
        <p:spPr>
          <a:xfrm>
            <a:off x="311700" y="1225225"/>
            <a:ext cx="3707100" cy="3613500"/>
          </a:xfrm>
          <a:prstGeom prst="rect">
            <a:avLst/>
          </a:prstGeom>
        </p:spPr>
        <p:txBody>
          <a:bodyPr spcFirstLastPara="1" wrap="square" lIns="91425" tIns="91425" rIns="91425" bIns="91425" anchor="t" anchorCtr="0">
            <a:normAutofit fontScale="25000" lnSpcReduction="20000"/>
          </a:bodyPr>
          <a:lstStyle/>
          <a:p>
            <a:pPr marL="457200" lvl="0" indent="-336550" algn="l" rtl="0">
              <a:spcBef>
                <a:spcPts val="0"/>
              </a:spcBef>
              <a:spcAft>
                <a:spcPts val="0"/>
              </a:spcAft>
              <a:buSzPct val="100000"/>
              <a:buChar char="●"/>
            </a:pPr>
            <a:r>
              <a:rPr lang="en" sz="6800" dirty="0"/>
              <a:t>The group that could not receive EITC seems to have a slight positive slope indicating that EITC has a positive impact on bachelors completion. This is once again unexpected since they could not receive it.</a:t>
            </a:r>
            <a:endParaRPr sz="6800" dirty="0"/>
          </a:p>
          <a:p>
            <a:pPr marL="457200" lvl="0" indent="-336550" algn="l" rtl="0">
              <a:spcBef>
                <a:spcPts val="0"/>
              </a:spcBef>
              <a:spcAft>
                <a:spcPts val="0"/>
              </a:spcAft>
              <a:buSzPct val="100000"/>
              <a:buChar char="●"/>
            </a:pPr>
            <a:r>
              <a:rPr lang="en" sz="6800" dirty="0"/>
              <a:t>The group that could receive EITC seems to have a rather flat slope contrary to expectations</a:t>
            </a:r>
            <a:endParaRPr dirty="0"/>
          </a:p>
        </p:txBody>
      </p:sp>
      <p:pic>
        <p:nvPicPr>
          <p:cNvPr id="2050" name="Picture 2">
            <a:extLst>
              <a:ext uri="{FF2B5EF4-FFF2-40B4-BE49-F238E27FC236}">
                <a16:creationId xmlns:a16="http://schemas.microsoft.com/office/drawing/2014/main" id="{3004A1C8-1314-B74C-1DE0-EC904862DE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1147225"/>
            <a:ext cx="5029200" cy="37719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2"/>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Visuals Discussion</a:t>
            </a:r>
            <a:endParaRPr/>
          </a:p>
        </p:txBody>
      </p:sp>
      <p:sp>
        <p:nvSpPr>
          <p:cNvPr id="121" name="Google Shape;121;p22"/>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en"/>
              <a:t>Based on the key’s the red line represents people who’s family income is low enough to qualify for the EITC while the blue line represents people who’s family income is too high. I would have expected the red line to increase as EITC exposure increases since extra income should have a positive impact on education. I would have expected the blue line to stay fairly stagnant as EITC increases since they did not receive the tax credit. </a:t>
            </a:r>
            <a:endParaRPr/>
          </a:p>
          <a:p>
            <a:pPr marL="0" lvl="0" indent="0" algn="l" rtl="0">
              <a:spcBef>
                <a:spcPts val="1200"/>
              </a:spcBef>
              <a:spcAft>
                <a:spcPts val="1200"/>
              </a:spcAft>
              <a:buClr>
                <a:schemeClr val="dk1"/>
              </a:buClr>
              <a:buSzPts val="1100"/>
              <a:buFont typeface="Arial"/>
              <a:buNone/>
            </a:pPr>
            <a:r>
              <a:rPr lang="en"/>
              <a:t>However, none of the plots showed this story and it is likely because we are missing some of the context. Without full context (Missing variables) it is possible that the impact allocated to EITC is over or understated (Absorbing the variation of other variables). This is likely to be they case because my model is only able to explain about 10% of the variation in education rates.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3"/>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Sources</a:t>
            </a:r>
            <a:endParaRPr/>
          </a:p>
        </p:txBody>
      </p:sp>
      <p:sp>
        <p:nvSpPr>
          <p:cNvPr id="127" name="Google Shape;127;p23"/>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rmAutofit/>
          </a:bodyPr>
          <a:lstStyle/>
          <a:p>
            <a:pPr marL="457200" lvl="0" indent="-457200" algn="l" rtl="0">
              <a:spcBef>
                <a:spcPts val="1200"/>
              </a:spcBef>
              <a:spcAft>
                <a:spcPts val="0"/>
              </a:spcAft>
              <a:buClr>
                <a:schemeClr val="dk1"/>
              </a:buClr>
              <a:buSzPts val="1100"/>
              <a:buFont typeface="Arial"/>
              <a:buNone/>
            </a:pPr>
            <a:r>
              <a:rPr lang="en">
                <a:latin typeface="Average"/>
                <a:ea typeface="Average"/>
                <a:cs typeface="Average"/>
                <a:sym typeface="Average"/>
              </a:rPr>
              <a:t>Earned income tax credit parameters, 1975-2016. (n.d.-a). </a:t>
            </a:r>
            <a:r>
              <a:rPr lang="en" u="sng">
                <a:latin typeface="Average"/>
                <a:ea typeface="Average"/>
                <a:cs typeface="Average"/>
                <a:sym typeface="Average"/>
                <a:hlinkClick r:id="rId3"/>
              </a:rPr>
              <a:t>https://taxpolicycenter.org/sites/default/files/legacy/taxfacts/content/pdf/historical_eitc_parameters.pdf</a:t>
            </a:r>
            <a:endParaRPr>
              <a:latin typeface="Average"/>
              <a:ea typeface="Average"/>
              <a:cs typeface="Average"/>
              <a:sym typeface="Average"/>
            </a:endParaRPr>
          </a:p>
          <a:p>
            <a:pPr marL="457200" lvl="0" indent="-457200" algn="l" rtl="0">
              <a:spcBef>
                <a:spcPts val="1200"/>
              </a:spcBef>
              <a:spcAft>
                <a:spcPts val="0"/>
              </a:spcAft>
              <a:buClr>
                <a:schemeClr val="dk1"/>
              </a:buClr>
              <a:buSzPts val="1100"/>
              <a:buFont typeface="Arial"/>
              <a:buNone/>
            </a:pPr>
            <a:r>
              <a:rPr lang="en">
                <a:latin typeface="Average"/>
                <a:ea typeface="Average"/>
                <a:cs typeface="Average"/>
                <a:sym typeface="Average"/>
              </a:rPr>
              <a:t>PSID Home. (n.d.-b). </a:t>
            </a:r>
            <a:r>
              <a:rPr lang="en" u="sng">
                <a:latin typeface="Average"/>
                <a:ea typeface="Average"/>
                <a:cs typeface="Average"/>
                <a:sym typeface="Average"/>
                <a:hlinkClick r:id="rId4"/>
              </a:rPr>
              <a:t>https://psidonline.isr.umich.edu/default.aspx</a:t>
            </a:r>
            <a:endParaRPr>
              <a:latin typeface="Average"/>
              <a:ea typeface="Average"/>
              <a:cs typeface="Average"/>
              <a:sym typeface="Average"/>
            </a:endParaRPr>
          </a:p>
          <a:p>
            <a:pPr marL="457200" lvl="0" indent="-457200" algn="l" rtl="0">
              <a:spcBef>
                <a:spcPts val="1200"/>
              </a:spcBef>
              <a:spcAft>
                <a:spcPts val="1200"/>
              </a:spcAft>
              <a:buClr>
                <a:schemeClr val="dk1"/>
              </a:buClr>
              <a:buSzPts val="1100"/>
              <a:buFont typeface="Arial"/>
              <a:buNone/>
            </a:pPr>
            <a:r>
              <a:rPr lang="en">
                <a:latin typeface="Average"/>
                <a:ea typeface="Average"/>
                <a:cs typeface="Average"/>
                <a:sym typeface="Average"/>
              </a:rPr>
              <a:t>TAXSIM related files at the NBER - MyNBER. (n.d.). </a:t>
            </a:r>
            <a:r>
              <a:rPr lang="en" u="sng">
                <a:latin typeface="Average"/>
                <a:ea typeface="Average"/>
                <a:cs typeface="Average"/>
                <a:sym typeface="Average"/>
                <a:hlinkClick r:id="rId5"/>
              </a:rPr>
              <a:t>https://taxsim.nber.org/state-eitc.html</a:t>
            </a:r>
            <a:endParaRPr/>
          </a:p>
        </p:txBody>
      </p:sp>
    </p:spTree>
  </p:cSld>
  <p:clrMapOvr>
    <a:masterClrMapping/>
  </p:clrMapOvr>
</p:sld>
</file>

<file path=ppt/theme/theme1.xml><?xml version="1.0" encoding="utf-8"?>
<a:theme xmlns:a="http://schemas.openxmlformats.org/drawingml/2006/main"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992</Words>
  <Application>Microsoft Office PowerPoint</Application>
  <PresentationFormat>On-screen Show (16:9)</PresentationFormat>
  <Paragraphs>53</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Average</vt:lpstr>
      <vt:lpstr>Economica</vt:lpstr>
      <vt:lpstr>Arial</vt:lpstr>
      <vt:lpstr>Open Sans</vt:lpstr>
      <vt:lpstr>Luxe</vt:lpstr>
      <vt:lpstr>Earned Income Tax Credit</vt:lpstr>
      <vt:lpstr>My Question and Why Its Important</vt:lpstr>
      <vt:lpstr>Economic Understanding</vt:lpstr>
      <vt:lpstr>Variables</vt:lpstr>
      <vt:lpstr>Largest Data Cleaning Challenge</vt:lpstr>
      <vt:lpstr>Results of Analysis</vt:lpstr>
      <vt:lpstr>Visual For High School Completion</vt:lpstr>
      <vt:lpstr>Visual For College Attendance</vt:lpstr>
      <vt:lpstr>Visual For Bachelors Completion</vt:lpstr>
      <vt:lpstr>Visuals Discussion</vt:lpstr>
      <vt:lpstr>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Saif Elsisy</cp:lastModifiedBy>
  <cp:revision>1</cp:revision>
  <dcterms:modified xsi:type="dcterms:W3CDTF">2026-04-24T05:40:10Z</dcterms:modified>
</cp:coreProperties>
</file>